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82fa06f0724d9c" /><Relationship Type="http://schemas.openxmlformats.org/officeDocument/2006/relationships/extended-properties" Target="/docProps/app.xml" Id="Rc7f0618513f24d06" /><Relationship Type="http://schemas.openxmlformats.org/officeDocument/2006/relationships/officeDocument" Target="/ppt/presentation.xml" Id="R9223936b6d214f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feec8b85d7460c"/>
  </p:sldMasterIdLst>
  <p:notesMasterIdLst>
    <p:notesMasterId xmlns:r="http://schemas.openxmlformats.org/officeDocument/2006/relationships" r:id="Rf8b14b2e843c4368"/>
  </p:notesMasterIdLst>
  <p:sldIdLst>
    <p:sldId xmlns:r="http://schemas.openxmlformats.org/officeDocument/2006/relationships" id="256" r:id="Rbd46be0ed80f4d54"/>
    <p:sldId xmlns:r="http://schemas.openxmlformats.org/officeDocument/2006/relationships" id="257" r:id="R5d8a315efb674f66"/>
    <p:sldId xmlns:r="http://schemas.openxmlformats.org/officeDocument/2006/relationships" id="258" r:id="R6a5cfc3b007748b1"/>
    <p:sldId xmlns:r="http://schemas.openxmlformats.org/officeDocument/2006/relationships" id="259" r:id="Rf82f036cc902457e"/>
    <p:sldId xmlns:r="http://schemas.openxmlformats.org/officeDocument/2006/relationships" id="260" r:id="R29305d08c21c4568"/>
    <p:sldId xmlns:r="http://schemas.openxmlformats.org/officeDocument/2006/relationships" id="261" r:id="R065e297c26984a9a"/>
    <p:sldId xmlns:r="http://schemas.openxmlformats.org/officeDocument/2006/relationships" id="262" r:id="R07efc0ca5c254b6a"/>
    <p:sldId xmlns:r="http://schemas.openxmlformats.org/officeDocument/2006/relationships" id="263" r:id="Ra8e734d9ce7a47f3"/>
    <p:sldId xmlns:r="http://schemas.openxmlformats.org/officeDocument/2006/relationships" id="264" r:id="R9c48878a833c4939"/>
    <p:sldId xmlns:r="http://schemas.openxmlformats.org/officeDocument/2006/relationships" id="265" r:id="Rf4025bd4e3f14c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5e75818a6c4fc4" /><Relationship Type="http://schemas.openxmlformats.org/officeDocument/2006/relationships/slideMaster" Target="/ppt/slideMasters/slideMaster1.xml" Id="R11feec8b85d7460c" /><Relationship Type="http://schemas.openxmlformats.org/officeDocument/2006/relationships/notesMaster" Target="/ppt/notesMasters/notesMaster1.xml" Id="Rf8b14b2e843c4368" /><Relationship Type="http://schemas.openxmlformats.org/officeDocument/2006/relationships/presProps" Target="/ppt/presProps.xml" Id="Rce716fbe12924bb5" /><Relationship Type="http://schemas.openxmlformats.org/officeDocument/2006/relationships/tableStyles" Target="/ppt/tableStyles.xml" Id="R4fba47f9620b4653" /><Relationship Type="http://schemas.openxmlformats.org/officeDocument/2006/relationships/slide" Target="/ppt/slides/slide1.xml" Id="Rbd46be0ed80f4d54" /><Relationship Type="http://schemas.openxmlformats.org/officeDocument/2006/relationships/slide" Target="/ppt/slides/slide2.xml" Id="R5d8a315efb674f66" /><Relationship Type="http://schemas.openxmlformats.org/officeDocument/2006/relationships/slide" Target="/ppt/slides/slide3.xml" Id="R6a5cfc3b007748b1" /><Relationship Type="http://schemas.openxmlformats.org/officeDocument/2006/relationships/slide" Target="/ppt/slides/slide4.xml" Id="Rf82f036cc902457e" /><Relationship Type="http://schemas.openxmlformats.org/officeDocument/2006/relationships/slide" Target="/ppt/slides/slide5.xml" Id="R29305d08c21c4568" /><Relationship Type="http://schemas.openxmlformats.org/officeDocument/2006/relationships/slide" Target="/ppt/slides/slide6.xml" Id="R065e297c26984a9a" /><Relationship Type="http://schemas.openxmlformats.org/officeDocument/2006/relationships/slide" Target="/ppt/slides/slide7.xml" Id="R07efc0ca5c254b6a" /><Relationship Type="http://schemas.openxmlformats.org/officeDocument/2006/relationships/slide" Target="/ppt/slides/slide8.xml" Id="Ra8e734d9ce7a47f3" /><Relationship Type="http://schemas.openxmlformats.org/officeDocument/2006/relationships/slide" Target="/ppt/slides/slide9.xml" Id="R9c48878a833c4939" /><Relationship Type="http://schemas.openxmlformats.org/officeDocument/2006/relationships/slide" Target="/ppt/slides/slide10.xml" Id="Rf4025bd4e3f14c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0880274f2441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0b905ed2454b5a" /><Relationship Type="http://schemas.openxmlformats.org/officeDocument/2006/relationships/notesMaster" Target="/ppt/notesMasters/notesMaster1.xml" Id="Rdb2116108d8545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51add223904673" /><Relationship Type="http://schemas.openxmlformats.org/officeDocument/2006/relationships/notesMaster" Target="/ppt/notesMasters/notesMaster1.xml" Id="Rf77cf6170bb441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12eca774f240db" /><Relationship Type="http://schemas.openxmlformats.org/officeDocument/2006/relationships/notesMaster" Target="/ppt/notesMasters/notesMaster1.xml" Id="R2c790ee4173244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8f278641ba4207" /><Relationship Type="http://schemas.openxmlformats.org/officeDocument/2006/relationships/notesMaster" Target="/ppt/notesMasters/notesMaster1.xml" Id="R06c6dcfd0ab44f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09083588514503" /><Relationship Type="http://schemas.openxmlformats.org/officeDocument/2006/relationships/notesMaster" Target="/ppt/notesMasters/notesMaster1.xml" Id="Re09658826f054d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f926fa82c34263" /><Relationship Type="http://schemas.openxmlformats.org/officeDocument/2006/relationships/notesMaster" Target="/ppt/notesMasters/notesMaster1.xml" Id="Rbd134dc630644c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2f19bd7a6a44ec" /><Relationship Type="http://schemas.openxmlformats.org/officeDocument/2006/relationships/notesMaster" Target="/ppt/notesMasters/notesMaster1.xml" Id="Rb4b594597fbb47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33bb36e2044469" /><Relationship Type="http://schemas.openxmlformats.org/officeDocument/2006/relationships/notesMaster" Target="/ppt/notesMasters/notesMaster1.xml" Id="Ref5ac081541142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96f85a964c45f4" /><Relationship Type="http://schemas.openxmlformats.org/officeDocument/2006/relationships/notesMaster" Target="/ppt/notesMasters/notesMaster1.xml" Id="R8e19f9d551614a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6f99596366404b" /><Relationship Type="http://schemas.openxmlformats.org/officeDocument/2006/relationships/notesMaster" Target="/ppt/notesMasters/notesMaster1.xml" Id="R196c0e886bbb43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Я Акунова Салтанат, автор индивидуального проекта CellVision. Это исследовательский программный прототип для визуализации микрофотографий мазка крови. Я сосредоточилась на качестве снимка и изучении морфологии клеток. Проект не ставит диагноз.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 проекта не в том, что микроскопия бесполезна. Проблема в том, что анализ изображения чувствителен к качеству съёмки и ручная разметка может различаться. В статье RedTell отмечено, что морфологическая оценка вручную бывает субъективной и требует времени. CellVision исследует именно цифровую помощь при просмотре, а не замену гематолога. Источник: Sadafi et al., RedTell, Frontiers in Physiology (2023), https://doi.org/10.3389/fphys.2023.1058720.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CellVision — сделать исследовательскую работу с микрофотографиями более воспроизводимой и понятной. Веб-интерфейс принимает изображение, оценивает базовые признаки его качества, выполняет сегментацию, считает измерения объектов и позволяет визуально сопоставить маску с ручной разметкой. Такая схема согласуется с общим исследовательским подходом RedTell: сегментация, извлечение признаков, поддержка разметки и классификация. Источник: https://doi.org/10.3389/fphys.2023.1058720.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Приложение работает локально как веб-прототип: интерфейс построен на HTML, CSS и JavaScript, сервер на Python, обработка изображений выполняется OpenCV. Алгоритм сначала сглаживает изображение, затем использует порог Отсу, морфологические операции и Watershed. Для объектов рассчитываются площадь, эквивалентный диаметр, круглость, эксцентриситет и цветовая характеристика. При заданной пользователем шкале пиксели можно перевести в микрометры. Это измерения изображения; вариация размеров не является лабораторным RDW. Есть экспорт таблицы в CSV и печать отчёта в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исследовательской проверки использовался публичный RedTell DSE, предоставленный на Zenodo по CC BY 4.0. Скрипт сравнил 30 кадров, отложенных по исходному изображению, с опубликованными instance masks. Пациентских идентификаторов в наборе нет, поэтому это разделение по кадрам, а не независимое тестирование по пациентам. На визуальном примере видно, что алгоритм часто теряет значительную часть клеточной маски. Источник данных: Makhro et al., Red Blood Cell RedTell Dataset, Zenodo, https://doi.org/10.5281/zenodo.7801430.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30 выбранных кадров текущая сегментация показала средний Dice 0,115 и средний IoU 0,062 по пикселям. При 1 261 клетке в эталоне алгоритм выделил 667; среднее signed смещение подсчёта составляет минус 19,8 клетки на кадр, а средняя абсолютная ошибка подсчёта 22,1. Это неудовлетворительный результат. Он относится к этому набору фазово-контрастных изображений, не к любой камере или окрашенному мазку. Метрики маски не являются диагностической точностью. Независимые разметки двух специалистов ещё не собраны.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Применение прототипа сегодня — обучение и пилотная исследовательская работа с изображениями. Студент может увидеть, как качество кадра и наложение клеток мешают разметке. Исследователь может сохранить измерения, экспортировать их и проверить маску относительно ручной. Потенциальное воздействие появится, если качество метода улучшится и его независимо проверят. Сейчас это не медицинское изделие и не инструмент для клинического решения.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Я не заявляю, что подобный анализ ранее не существовал. Научные инструменты вроде RedTell уже объединяют сегментацию, морфологические признаки, аннотацию и классификацию. Практический акцент CellVision — доступный учебный веб-интерфейс, где видно, что именно выделил алгоритм и как это можно сравнить с ручной маской. Ключевая ценность — прозрачность проверки, а не самостоятельное медицинское заключение. Источник сравнения: https://doi.org/10.3389/fphys.2023.1058720.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Следующий этап должен начинаться с качества сегментации. Затем два наблюдателя независимо размечают общие изображения, чтобы оценить воспроизводимость вручную. Данные делятся по пациентам и исходным мазкам, чтобы похожие кадры не попадали одновременно в обучение и тест. Можно изучить AneRBC: это открытый набор с 1 000 исходных изображений и связанными CBC, морфологическими отчётами и экспертными масками. Но это набор одного центра и прибора, поэтому внешний тест на других данных всё равно необходим. Источники: AneRBC paper https://doi.org/10.1093/database/baae120; dataset https://data.mendeley.com/datasets/hms3sjzt7f/1.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заключение, CellVision — работающий исследовательский прототип для визуализации качества микрофотографий и изучения морфологии клеток. Проведённый тест не подтвердил надёжность текущей сегментации: метод существенно недосчитывает клетки. Поэтому следующий шаг — улучшить алгоритм и проверить его на независимой серии снимков с экспертной разметкой. До такой проверки система остаётся учебным инструментом, а не диагностической системой.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fba5aa13d44a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95789c2af2425c" /><Relationship Type="http://schemas.openxmlformats.org/officeDocument/2006/relationships/slideLayout" Target="/ppt/slideLayouts/slideLayout1.xml" Id="Reaba223610954a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ba223610954a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5cee5e80c4fe4" /><Relationship Type="http://schemas.openxmlformats.org/officeDocument/2006/relationships/notesSlide" Target="/ppt/notesSlides/notesSlide1.xml" Id="R95f94f5dabce49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a634197b142bf" /><Relationship Type="http://schemas.openxmlformats.org/officeDocument/2006/relationships/notesSlide" Target="/ppt/notesSlides/notesSlide2.xml" Id="R4feae2ca88b748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2cbd0059c47ca" /><Relationship Type="http://schemas.openxmlformats.org/officeDocument/2006/relationships/notesSlide" Target="/ppt/notesSlides/notesSlide3.xml" Id="R26cad5c8da7444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653eab5be407d" /><Relationship Type="http://schemas.openxmlformats.org/officeDocument/2006/relationships/notesSlide" Target="/ppt/notesSlides/notesSlide4.xml" Id="Rbaa4391e510d4b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b93cf5786473e" /><Relationship Type="http://schemas.openxmlformats.org/officeDocument/2006/relationships/image" Target="/ppt/media/image.jpeg" Id="Rdea6407adaba4e1e" /><Relationship Type="http://schemas.openxmlformats.org/officeDocument/2006/relationships/notesSlide" Target="/ppt/notesSlides/notesSlide5.xml" Id="R0e69f576697f42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ad216e4124569" /><Relationship Type="http://schemas.openxmlformats.org/officeDocument/2006/relationships/notesSlide" Target="/ppt/notesSlides/notesSlide6.xml" Id="R60ac12b49fb74d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95dd2fb884070" /><Relationship Type="http://schemas.openxmlformats.org/officeDocument/2006/relationships/notesSlide" Target="/ppt/notesSlides/notesSlide7.xml" Id="Re9f49f8bd7f44b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cdf32e7e54e05" /><Relationship Type="http://schemas.openxmlformats.org/officeDocument/2006/relationships/notesSlide" Target="/ppt/notesSlides/notesSlide8.xml" Id="R60d3d2d92a804e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07f5d24544bfd" /><Relationship Type="http://schemas.openxmlformats.org/officeDocument/2006/relationships/notesSlide" Target="/ppt/notesSlides/notesSlide9.xml" Id="Rac12c2d16c7d4a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30d0f889643d7" /><Relationship Type="http://schemas.openxmlformats.org/officeDocument/2006/relationships/notesSlide" Target="/ppt/notesSlides/notesSlide10.xml" Id="Rc8a6efe49e254f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6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845DB-6ED1-44A0-937F-EF69AFB3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DDD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DDD2"/>
                </a:solidFill>
                <a:latin typeface="Aptos"/>
                <a:ea typeface="Aptos"/>
                <a:cs typeface="Aptos"/>
              </a:rPr>
              <a:t>НАУЧНАЯ РАЗРАБОТКА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5F66F-961A-44F3-BDBA-29BD65F3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CellVision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534B9-6AA8-41E3-AB89-4D8BD45B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D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C70A6-43A8-4FA3-A816-F91F2800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7DDD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DDD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6F6F3-60A6-477E-B6F1-505DADAD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FC3B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C3B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06B5E-ADDA-4D94-8287-FEEC33F4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8286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Исследовательская визуализация</a:t>
            </a:r>
          </a:p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микрофотографий мазка крови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4E3D1-4685-4F03-9300-E7EF2426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733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972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8D9D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8D9D4"/>
                </a:solidFill>
                <a:latin typeface="Aptos"/>
                <a:ea typeface="Aptos"/>
                <a:cs typeface="Aptos"/>
              </a:rPr>
              <a:t>Контроль качества кадра и воспроизводимое изучение морфологии эритроцитов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CF793-F277-466A-A76C-55B3EC50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D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87EE5-3FE3-41C2-8A63-0CADBD5A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Акунова Салтанат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7D6C7-B1E6-4F04-8147-0C6AB9B3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3B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FC3BE"/>
                </a:solidFill>
                <a:latin typeface="Aptos"/>
                <a:ea typeface="Aptos"/>
                <a:cs typeface="Aptos"/>
              </a:rPr>
              <a:t>Индивидуальный проект  ·  STEMKyz Cup 2026</a:t>
            </a:r>
          </a:p>
        </p:txBody>
      </p:sp>
    </p:spTree>
    <p:extLst>
      <p:ext uri="{BB962C8B-B14F-4D97-AF65-F5344CB8AC3E}">
        <p14:creationId xmlns:p14="http://schemas.microsoft.com/office/powerpoint/2010/main" val="5493126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FC94A-F93A-41EB-B613-461B8A7A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02  /  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20947-CE26-4DF2-AD41-33F747C2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Снимок влияет на оценку клеток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D76E6-033D-4F8C-AF2D-F8550787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9787A-C9A3-4971-BC61-8648BC84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764AF-E53F-41FA-B439-6C18AABF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59F8F-CE49-48F6-BE93-BC47FC88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Фокус, освещение, окраска, загрязнения и наложение клеток меняют то, что видит наблюдатель и алгоритм.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9D9CF-66D0-4DBB-A772-AA49DD3A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Ручная работа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FAE58-7B6A-4BC6-A110-18240909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Разметка контуров и подсчёт занимают время.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9AD43-3163-45FA-AD3C-DDB614A0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03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Разные наблюдатели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69DC8-8B7D-448F-A6EA-9A2B9CA1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24225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Границы клетки можно отметить по-разному.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3599A-0C84-4C54-B2AA-00537737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Задача проекта: сделать шаги просмотра снимка наглядными и дать возможность проверить результат разметки.</a:t>
            </a:r>
          </a:p>
        </p:txBody>
      </p:sp>
    </p:spTree>
    <p:extLst>
      <p:ext uri="{BB962C8B-B14F-4D97-AF65-F5344CB8AC3E}">
        <p14:creationId xmlns:p14="http://schemas.microsoft.com/office/powerpoint/2010/main" val="4148365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820F99-D5BE-42B1-9CD1-BA458F22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03  /  ИДЕЯ И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F1504-DD61-4A19-BF88-5C6EB4F7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Один снимок — понятный путь проверки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60F91-2389-47C7-9B4A-A22891BA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22B81-2C0C-4804-BB7C-AF744196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71AA2-6B74-4591-A5DD-892B83EF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02B92-3A06-424D-9F52-8116EF32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D55A7-1D98-472B-B3A6-0B0B2E71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Качество кадра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13F5D-324D-4032-BDC3-BB6E3302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резкость, свет,</a:t>
            </a:r>
          </a:p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пересвет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0DF6A-0CE3-4BFD-99F2-553407A9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717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DE75F-DA2F-4C95-9D98-AA5FAE44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43125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1E5AA-368C-47B8-A4AF-48A556B2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09825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Обработка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175EB5-0F23-4D6D-A6EE-36088A73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67025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маска и контуры</a:t>
            </a:r>
          </a:p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клеток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3B6A8-59C4-4533-9FF7-C5008979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1717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0F0C5-9295-43CE-AF46-D3E0B3F0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43125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FAF22-41D6-485C-8817-6654B88F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09825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Измерения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CF4612-A33A-4CBB-85C6-B51704A9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67025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форма и размер</a:t>
            </a:r>
          </a:p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объектов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1235C-D27A-458A-BB90-4F3E509B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717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0F1D0A-9355-4BD1-B7A7-7140814A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143125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F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C65FC4-CD51-4B99-86D0-D3C22A99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09825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Проверка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3C7B9-145F-4ABE-93FB-9DB03E4B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867025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сравнение с</a:t>
            </a:r>
          </a:p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ручной маской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F692C-4F94-45B3-9562-ED7813DF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Цель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3B1F35-DA8A-437E-AE79-EC60281F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9102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Помочь учащимся и исследователям воспроизводимо изучать морфологию и замечать ограничения снимка.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528052-D99C-40A8-A8D8-A4A6B631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Задачи: автоматизировать первичную обработку, показать измерения, сохранить результаты и сопоставить их с ручной разметкой.</a:t>
            </a:r>
          </a:p>
        </p:txBody>
      </p:sp>
    </p:spTree>
    <p:extLst>
      <p:ext uri="{BB962C8B-B14F-4D97-AF65-F5344CB8AC3E}">
        <p14:creationId xmlns:p14="http://schemas.microsoft.com/office/powerpoint/2010/main" val="7465618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FA92F9-BA20-4152-9D1A-C904444A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04  /  РЕАЛИЗАЦИЯ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FFF4B-9E38-49CB-9DCF-10398134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Как устроен прототип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7915E-11E0-46B6-A16F-58F22AA6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F3698-85F2-4830-B344-BE93F715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3BF48-794B-4E2D-A28C-CD61B0CD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E1887-764C-49CF-9848-91C6F859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Браузер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6D3EC-1433-44C9-A4EA-37F2B2CA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75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302F"/>
                </a:solidFill>
                <a:latin typeface="Aptos"/>
                <a:ea typeface="Aptos"/>
                <a:cs typeface="Aptos"/>
              </a:rPr>
              <a:t>HTML · CSS · JavaScript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601D3-F5A5-45F7-B8B9-C18F1E35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717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BFFB1-8612-469D-A5A3-EDA11513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526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Локальный сервер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5714B-DAD0-400B-9DC4-AC0FE1C4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7172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75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302F"/>
                </a:solidFill>
                <a:latin typeface="Aptos"/>
                <a:ea typeface="Aptos"/>
                <a:cs typeface="Aptos"/>
              </a:rPr>
              <a:t>Python · OpenCV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F5E7A-6B8A-4362-B33D-8B2E1DB0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1717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2760D-DB98-48BF-9805-92B757E9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52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Результат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C2B32-5B22-437F-8300-F08B6D54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7172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302F"/>
                </a:solidFill>
                <a:latin typeface="Aptos"/>
                <a:ea typeface="Aptos"/>
                <a:cs typeface="Aptos"/>
              </a:rPr>
              <a:t>маска · таблица · экспорт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864EB7-4AB8-499B-8C55-DA695724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Сегментация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D3AC18-77C7-4E1F-8347-18A30AEA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4524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Сглаживание, порог Отсу, морфологическая обработка и Watershed разделяют предполагаемые клетки.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6FD32-FD1E-4BC4-99FE-ECEC6DBB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480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Измерения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A8DE9-0DD2-443B-B15F-2640E8D5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67150"/>
            <a:ext cx="4714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Площадь, эквивалентный диаметр, круглость, эксцентриситет и вариация размеров по кадру.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C0CFE6-CDBE-4A15-91F5-D4EEBDB9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9112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Дополнительно: проверка резкости и освещения, CSV, сравнение «до/после», ручная маска с Dice/IoU, история и учебный атлас.</a:t>
            </a:r>
          </a:p>
        </p:txBody>
      </p:sp>
    </p:spTree>
    <p:extLst>
      <p:ext uri="{BB962C8B-B14F-4D97-AF65-F5344CB8AC3E}">
        <p14:creationId xmlns:p14="http://schemas.microsoft.com/office/powerpoint/2010/main" val="4524283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1BF8E-855B-43F0-856A-E9CB2C7B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05  /  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49B69-6A11-4003-9E75-B2523332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Как проверяли сегментацию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62B91-E9EC-4FBD-8E27-496B4A0A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4208E-30AB-4FBB-A01F-C62A7061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AF16F-C5A5-4271-8A3C-ED81644B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F352E-0C35-41C5-876A-377EB1D2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Открытые кадры RedTell DSE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A67F7-71BF-49CE-9B09-9783232C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4095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30 отложенных кадров</a:t>
            </a:r>
          </a:p>
          <a:p xmlns:a="http://schemas.openxmlformats.org/drawingml/2006/main">
            <a:pPr>
              <a:defRPr sz="1725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1 261 эталонная клетка</a:t>
            </a:r>
          </a:p>
          <a:p xmlns:a="http://schemas.openxmlformats.org/drawingml/2006/main">
            <a:pPr>
              <a:defRPr sz="1725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Разделение по исходному кадру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16E93-EE16-4F4B-AACA-B0E3533C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3716E"/>
                </a:solidFill>
                <a:latin typeface="Aptos"/>
                <a:ea typeface="Aptos"/>
                <a:cs typeface="Aptos"/>
              </a:rPr>
              <a:t>Эталон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81F6D-E338-4EAB-ABD2-E4A000A9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3716E"/>
                </a:solidFill>
                <a:latin typeface="Aptos"/>
                <a:ea typeface="Aptos"/>
                <a:cs typeface="Aptos"/>
              </a:rPr>
              <a:t>Маска CellVision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6407adaba4e1e"/>
          <a:stretch xmlns:a="http://schemas.openxmlformats.org/drawingml/2006/main"/>
        </p:blipFill>
        <p:spPr>
          <a:xfrm xmlns:a="http://schemas.openxmlformats.org/drawingml/2006/main">
            <a:off x="7429821" y="2362200"/>
            <a:ext cx="2571108" cy="29337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73314-AD38-4A52-8F94-9018AFC3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7687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Зелёный — только эталон   Красный — только алгоритм   Жёлтый — совпадение</a:t>
            </a:r>
          </a:p>
        </p:txBody>
      </p:sp>
    </p:spTree>
    <p:extLst>
      <p:ext uri="{BB962C8B-B14F-4D97-AF65-F5344CB8AC3E}">
        <p14:creationId xmlns:p14="http://schemas.microsoft.com/office/powerpoint/2010/main" val="2472738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093AB0-4D7C-4EB9-B011-34D6AC8A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06  /  РЕЗУЛЬТАТЫ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C0AED-459C-4C4D-9428-7807881A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Текущая сегментация пока ненадёжна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6F0D5-9CDF-4C0D-9DCA-5DDBFB54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B8531-3A7A-464A-912F-DC59A9CC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5EA70-5E9A-40B2-9C59-542872C9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E9FC1-00C1-4DC6-9365-4D37B3DF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0,115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C883D-F92B-4152-8FFA-0E82C226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241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3716E"/>
                </a:solidFill>
                <a:latin typeface="Aptos"/>
                <a:ea typeface="Aptos"/>
                <a:cs typeface="Aptos"/>
              </a:rPr>
              <a:t>средний Dice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C59DA-4063-46A1-9D32-723BE47E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145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0,062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CC44B-53B1-429B-9922-EAAE2561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241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3716E"/>
                </a:solidFill>
                <a:latin typeface="Aptos"/>
                <a:ea typeface="Aptos"/>
                <a:cs typeface="Aptos"/>
              </a:rPr>
              <a:t>средний IoU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19A7C-80F0-4225-9B85-13E45919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145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C96F4A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C96F4A"/>
                </a:solidFill>
                <a:latin typeface="Aptos"/>
                <a:ea typeface="Aptos"/>
                <a:cs typeface="Aptos"/>
              </a:rPr>
              <a:t>−19,8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C658B-9791-41E3-B919-18C925EE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241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3716E"/>
                </a:solidFill>
                <a:latin typeface="Aptos"/>
                <a:ea typeface="Aptos"/>
                <a:cs typeface="Aptos"/>
              </a:rPr>
              <a:t>клетки на кадр</a:t>
            </a:r>
          </a:p>
          <a:p xmlns:a="http://schemas.openxmlformats.org/drawingml/2006/main">
            <a:pPr>
              <a:defRPr sz="1575" b="1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3716E"/>
                </a:solidFill>
                <a:latin typeface="Aptos"/>
                <a:ea typeface="Aptos"/>
                <a:cs typeface="Aptos"/>
              </a:rPr>
              <a:t>среднее смещение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FD487-86A4-4AA3-9373-77603241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755DA-5E23-4CBB-985C-1712DAE3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Эталон содержит 1 261 клетку; алгоритм выделил 667.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17528C-4B76-4406-9527-A62813FF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Это результат теста на фазово-контрастных кадрах RedTell. Он показывает ошибку текущего метода на этих данных, а не точность для всех мазков.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DE3135-EBC0-4E88-AE5A-DBD869A4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Также есть классификатор форм клеток, но он не определяет анемию.</a:t>
            </a:r>
          </a:p>
        </p:txBody>
      </p:sp>
    </p:spTree>
    <p:extLst>
      <p:ext uri="{BB962C8B-B14F-4D97-AF65-F5344CB8AC3E}">
        <p14:creationId xmlns:p14="http://schemas.microsoft.com/office/powerpoint/2010/main" val="16269270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96EA3-DEB8-414D-9725-55AF2935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07  /  ПРИМЕНЕНИЕ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ABBCE-D50C-470D-A42E-BC516AFE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Для учебной и исследовательской работы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28EFE-6713-4DD4-AEF2-A442EC1B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9692A-48C1-4A23-BCA9-9C722728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D60AB-AB28-4C7E-BB43-D0C0AD67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E5B42-7891-407A-A8D5-89E74A27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Учащийся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F060D-3C30-4E6E-873F-92298C29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302F"/>
                </a:solidFill>
                <a:latin typeface="Aptos"/>
                <a:ea typeface="Aptos"/>
                <a:cs typeface="Aptos"/>
              </a:rPr>
              <a:t>Изучает формы клеток и учится видеть артефакты снимка.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88259-BBC3-4CD2-B9B6-FC9CE692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Исследователь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16D8B-5F17-4989-85CD-0331C3B2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302F"/>
                </a:solidFill>
                <a:latin typeface="Aptos"/>
                <a:ea typeface="Aptos"/>
                <a:cs typeface="Aptos"/>
              </a:rPr>
              <a:t>Быстрее фиксирует измерения, выгружает CSV и сравнивает разметки.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0092E-AA4E-42EA-A26F-4A0DECE1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480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76568-2A91-42FB-BAD3-044E28F0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Потенциальное воздействие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33791-147B-42CF-85D0-5BF6D57C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962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Более прозрачная работа с микрофотографией и удобный сбор данных для последующей проверки алгоритмов.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B9DF1-92F8-4ACF-87FB-4180C113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6F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96F4A"/>
                </a:solidFill>
                <a:latin typeface="Aptos"/>
                <a:ea typeface="Aptos"/>
                <a:cs typeface="Aptos"/>
              </a:rPr>
              <a:t>Пока продукт не предназначен для клинического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17760202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4DFF9-3DFA-4F35-AC6A-6FEBCA17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08  /  ОТЛИЧИЕ ПОДХОДА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141FD-B45E-4525-A7E0-94A4E4A9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Акцент на прозрачной проверке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2F452-4C58-4E49-A787-262F4A41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D5CE9-D614-41D7-B592-69CB9604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84721-879F-4E12-B154-ECDDF346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29066-922B-48C3-9858-961713C7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048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В одном интерфейсе собраны просмотр кадра, базовая оценка его качества, сегментация, измерения по клеткам и сравнение с ручной маской.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989BD-DCC4-4505-8A1F-4BF29B46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Что можно перепроверить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F8EB8-0443-484A-9595-766421FB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4667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Каждый контур виден поверх оригинала. Табличные показатели можно сохранить и анализировать отдельно.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C56D3-312A-47BB-A3A2-5AAD28B2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623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96F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96F4A"/>
                </a:solidFill>
                <a:latin typeface="Aptos"/>
                <a:ea typeface="Aptos"/>
                <a:cs typeface="Aptos"/>
              </a:rPr>
              <a:t>Что важно уточнить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F5171-6D0C-452B-812E-335F6F80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00500"/>
            <a:ext cx="4857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Инструменты компьютерного зрения для эритроцитов уже существуют. Отличие CellVision — учебный формат и доступность проверки в небольшом локальном прототипе.</a:t>
            </a:r>
          </a:p>
        </p:txBody>
      </p:sp>
    </p:spTree>
    <p:extLst>
      <p:ext uri="{BB962C8B-B14F-4D97-AF65-F5344CB8AC3E}">
        <p14:creationId xmlns:p14="http://schemas.microsoft.com/office/powerpoint/2010/main" val="4944082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7A961E-77B2-43EB-BB8A-E6142F97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09  /  РАЗВИТИЕ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0BD36-6BBB-4EEE-8F9A-91564147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План: улучшать по измеримым этапам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F5D87-72FA-428F-A724-D7DEAF19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D7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21253-10A2-4F9E-9946-7F0D576A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E92CA-0C19-4EDD-8D68-A6B40482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3A36B-3D62-4B7F-BBDB-71EED607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01BED-B003-499C-B482-7792F8E2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907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Исправить сегментацию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93806-3961-43D2-A72D-B93346B3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Подобрать метод под тип съёмки; отдельно фиксировать окрашенные и фазово-контрастные кадры.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ACBFB-A627-4474-8BF4-1852507F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4317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17180-6A9F-42AD-A23F-2C4909ED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FDA71-CA0C-4260-A892-6BCF8CF7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7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Собрать независимую разметку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7B646-A0B1-452F-B499-1A3CC19C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57500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Два наблюдателя размечают одни и те же кадры; считать согласие после согласованного протокола.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F6A57-9EE3-483E-BDE7-2B14DA72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0997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AD5E8-55BD-44C6-B3DD-056E94B4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11263-70D3-4F99-AA2A-9D6E8D6A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243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Проверить обобщение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2F4DC-20AE-4671-9D75-D1CDE2BF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24300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Разделять данные по пациентам и мазкам; тестировать на отдельном источнике и микроскопе.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6CA3D-F07C-465F-818A-5EAEA969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7677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E7680E-E6B5-43FB-9BDC-2D440733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D7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7D7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07F455-A643-4316-A9BA-9DDD1FDC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911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0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F"/>
                </a:solidFill>
                <a:latin typeface="Aptos"/>
                <a:ea typeface="Aptos"/>
                <a:cs typeface="Aptos"/>
              </a:rPr>
              <a:t>Только затем расширять выводы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AB234C-81FB-43C9-9A72-6E082E2C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91100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1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16E"/>
                </a:solidFill>
                <a:latin typeface="Aptos"/>
                <a:ea typeface="Aptos"/>
                <a:cs typeface="Aptos"/>
              </a:rPr>
              <a:t>Сначала оценить сегментацию и морфологию; не переводить их в вероятность анемии без связанных CBC и клинической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10224777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26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328A8-3759-49C4-8F09-69A51CA9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DDD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DDD2"/>
                </a:solidFill>
                <a:latin typeface="Aptos"/>
                <a:ea typeface="Aptos"/>
                <a:cs typeface="Aptos"/>
              </a:rPr>
              <a:t>10  /  ЗАКЛЮЧЕНИЕ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5F1D9-1A29-4D82-A4E3-47739E14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Сначала надёжная визуализация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56087-0337-4759-A682-AB227452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D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B306E-4144-4895-8536-DD0B1D44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7DDD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DDD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068D2-74A9-48D9-9635-C66A96E9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FC3B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C3BE"/>
                </a:solidFill>
                <a:latin typeface="Aptos"/>
                <a:ea typeface="Aptos"/>
                <a:cs typeface="Aptos"/>
              </a:rPr>
              <a:t>CELLVISION  /  STEMKYZ CUP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13051-8C93-41D4-B2D8-8BABE75E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9953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CellVision уже показывает путь от микрофотографии к измерениям и проверяемой маске.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ED30D-68FD-4DDF-A185-91718C48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D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49787-BCD1-417D-AE4F-E5FB1FE3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4E2DE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4E2DE"/>
                </a:solidFill>
                <a:latin typeface="Aptos"/>
                <a:ea typeface="Aptos"/>
                <a:cs typeface="Aptos"/>
              </a:rPr>
              <a:t>Тест выявил недосчёт клеток. Это ограничение определяет следующий этап работы.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6F32E-1F87-4CBB-8590-887DFF8B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DDD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7DDD2"/>
                </a:solidFill>
                <a:latin typeface="Aptos"/>
                <a:ea typeface="Aptos"/>
                <a:cs typeface="Aptos"/>
              </a:rPr>
              <a:t>Цель развития — сделать измерения воспроизводимыми и проверить их независимой ручной разметкой.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25031-94CB-4B08-969E-50E5D18C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788712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2026-09-27T01:02:51.0830000Z</dcterms:created>
  <dcterms:modified xsi:type="dcterms:W3CDTF">2026-09-27T01:02:51.0830000Z</dcterms:modified>
</coreProperties>
</file>