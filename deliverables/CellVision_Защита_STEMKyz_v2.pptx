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529ac7170446d3" /><Relationship Type="http://schemas.openxmlformats.org/officeDocument/2006/relationships/extended-properties" Target="/docProps/app.xml" Id="R1f7cb6f95ad94b0a" /><Relationship Type="http://schemas.openxmlformats.org/officeDocument/2006/relationships/officeDocument" Target="/ppt/presentation.xml" Id="Rec1dddb3c87a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63f73ddd444f5d"/>
  </p:sldMasterIdLst>
  <p:notesMasterIdLst>
    <p:notesMasterId xmlns:r="http://schemas.openxmlformats.org/officeDocument/2006/relationships" r:id="Rcfc141f4de0b425f"/>
  </p:notesMasterIdLst>
  <p:sldIdLst>
    <p:sldId xmlns:r="http://schemas.openxmlformats.org/officeDocument/2006/relationships" id="256" r:id="R234021d061644a44"/>
    <p:sldId xmlns:r="http://schemas.openxmlformats.org/officeDocument/2006/relationships" id="257" r:id="R07f3526ccbab4669"/>
    <p:sldId xmlns:r="http://schemas.openxmlformats.org/officeDocument/2006/relationships" id="258" r:id="Re50a80211d5740b3"/>
    <p:sldId xmlns:r="http://schemas.openxmlformats.org/officeDocument/2006/relationships" id="259" r:id="R90e4c3a9288c466e"/>
    <p:sldId xmlns:r="http://schemas.openxmlformats.org/officeDocument/2006/relationships" id="260" r:id="R9d786c3633744be1"/>
    <p:sldId xmlns:r="http://schemas.openxmlformats.org/officeDocument/2006/relationships" id="261" r:id="R1fe906d31bd345ff"/>
    <p:sldId xmlns:r="http://schemas.openxmlformats.org/officeDocument/2006/relationships" id="262" r:id="Rc244409acfc54ba3"/>
    <p:sldId xmlns:r="http://schemas.openxmlformats.org/officeDocument/2006/relationships" id="263" r:id="R3d7d71877eeb46a7"/>
    <p:sldId xmlns:r="http://schemas.openxmlformats.org/officeDocument/2006/relationships" id="264" r:id="R36eac952ebf44fe0"/>
    <p:sldId xmlns:r="http://schemas.openxmlformats.org/officeDocument/2006/relationships" id="265" r:id="R4ce2f8c3dde2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10735126144364" /><Relationship Type="http://schemas.openxmlformats.org/officeDocument/2006/relationships/slideMaster" Target="/ppt/slideMasters/slideMaster1.xml" Id="R6e63f73ddd444f5d" /><Relationship Type="http://schemas.openxmlformats.org/officeDocument/2006/relationships/notesMaster" Target="/ppt/notesMasters/notesMaster1.xml" Id="Rcfc141f4de0b425f" /><Relationship Type="http://schemas.openxmlformats.org/officeDocument/2006/relationships/presProps" Target="/ppt/presProps.xml" Id="Rb7be7bfc4c9743ba" /><Relationship Type="http://schemas.openxmlformats.org/officeDocument/2006/relationships/tableStyles" Target="/ppt/tableStyles.xml" Id="R11222eda080242ae" /><Relationship Type="http://schemas.openxmlformats.org/officeDocument/2006/relationships/slide" Target="/ppt/slides/slide1.xml" Id="R234021d061644a44" /><Relationship Type="http://schemas.openxmlformats.org/officeDocument/2006/relationships/slide" Target="/ppt/slides/slide2.xml" Id="R07f3526ccbab4669" /><Relationship Type="http://schemas.openxmlformats.org/officeDocument/2006/relationships/slide" Target="/ppt/slides/slide3.xml" Id="Re50a80211d5740b3" /><Relationship Type="http://schemas.openxmlformats.org/officeDocument/2006/relationships/slide" Target="/ppt/slides/slide4.xml" Id="R90e4c3a9288c466e" /><Relationship Type="http://schemas.openxmlformats.org/officeDocument/2006/relationships/slide" Target="/ppt/slides/slide5.xml" Id="R9d786c3633744be1" /><Relationship Type="http://schemas.openxmlformats.org/officeDocument/2006/relationships/slide" Target="/ppt/slides/slide6.xml" Id="R1fe906d31bd345ff" /><Relationship Type="http://schemas.openxmlformats.org/officeDocument/2006/relationships/slide" Target="/ppt/slides/slide7.xml" Id="Rc244409acfc54ba3" /><Relationship Type="http://schemas.openxmlformats.org/officeDocument/2006/relationships/slide" Target="/ppt/slides/slide8.xml" Id="R3d7d71877eeb46a7" /><Relationship Type="http://schemas.openxmlformats.org/officeDocument/2006/relationships/slide" Target="/ppt/slides/slide9.xml" Id="R36eac952ebf44fe0" /><Relationship Type="http://schemas.openxmlformats.org/officeDocument/2006/relationships/slide" Target="/ppt/slides/slide10.xml" Id="R4ce2f8c3dde2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b2aceefcd4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809a9563740a1" /><Relationship Type="http://schemas.openxmlformats.org/officeDocument/2006/relationships/notesMaster" Target="/ppt/notesMasters/notesMaster1.xml" Id="R5e1dc950a23b42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312f5cc44495a" /><Relationship Type="http://schemas.openxmlformats.org/officeDocument/2006/relationships/notesMaster" Target="/ppt/notesMasters/notesMaster1.xml" Id="R27c2afcf18c749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c7139d28548c5" /><Relationship Type="http://schemas.openxmlformats.org/officeDocument/2006/relationships/notesMaster" Target="/ppt/notesMasters/notesMaster1.xml" Id="R04615964e16943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b035e551ee4c89" /><Relationship Type="http://schemas.openxmlformats.org/officeDocument/2006/relationships/notesMaster" Target="/ppt/notesMasters/notesMaster1.xml" Id="Rfffc173ad07e45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abfef229394e44" /><Relationship Type="http://schemas.openxmlformats.org/officeDocument/2006/relationships/notesMaster" Target="/ppt/notesMasters/notesMaster1.xml" Id="R901a5a9e8d5143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8524e2c07d486a" /><Relationship Type="http://schemas.openxmlformats.org/officeDocument/2006/relationships/notesMaster" Target="/ppt/notesMasters/notesMaster1.xml" Id="R900f01bb0f3b4f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c226fd1bc84e15" /><Relationship Type="http://schemas.openxmlformats.org/officeDocument/2006/relationships/notesMaster" Target="/ppt/notesMasters/notesMaster1.xml" Id="Rb698fe83d67144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e33571dc424b81" /><Relationship Type="http://schemas.openxmlformats.org/officeDocument/2006/relationships/notesMaster" Target="/ppt/notesMasters/notesMaster1.xml" Id="R8e8d0ccbfa744a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72364b2c934344" /><Relationship Type="http://schemas.openxmlformats.org/officeDocument/2006/relationships/notesMaster" Target="/ppt/notesMasters/notesMaster1.xml" Id="R48d373fca11143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5cd8f1640c4c25" /><Relationship Type="http://schemas.openxmlformats.org/officeDocument/2006/relationships/notesMaster" Target="/ppt/notesMasters/notesMaster1.xml" Id="R4426e9f2c43841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Акунова Салтанат, автор индивидуального проекта CellVision. Это исследовательский программный прототип для визуализации микрофотографий мазка крови. Я сосредоточилась на качестве снимка и изучении морфологии клеток. Проект не ставит диагноз.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проекта не в том, что микроскопия бесполезна. Проблема в том, что анализ изображения чувствителен к качеству съёмки и ручная разметка может различаться. В статье RedTell отмечено, что морфологическая оценка вручную бывает субъективной и требует времени. CellVision исследует именно цифровую помощь при просмотре, а не замену гематолога. Источник: Sadafi et al., RedTell, Frontiers in Physiology (2023),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CellVision — сделать исследовательскую работу с микрофотографиями более воспроизводимой и понятной. Веб-интерфейс принимает изображение, оценивает базовые признаки его качества, выполняет сегментацию, считает измерения объектов и позволяет визуально сопоставить маску с ручной разметкой. Такая схема согласуется с общим исследовательским подходом RedTell: сегментация, извлечение признаков, поддержка разметки и классификация. Источник: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работает локально как веб-прототип: интерфейс построен на HTML, CSS и JavaScript, сервер на Python, обработка изображений выполняется OpenCV. Алгоритм сначала сглаживает изображение, затем использует порог Отсу, морфологические операции и Watershed. Для объектов рассчитываются площадь, эквивалентный диаметр, круглость, эксцентриситет и цветовая характеристика. При заданной пользователем шкале пиксели можно перевести в микрометры. Это измерения изображения; вариация размеров не является лабораторным RDW. Есть экспорт таблицы в CSV и печать отчёта в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исследовательской проверки использовался публичный RedTell DSE, предоставленный на Zenodo по CC BY 4.0. Скрипт сравнил 30 кадров, отложенных по исходному изображению, с опубликованными instance masks. Пациентских идентификаторов в наборе нет, поэтому это разделение по кадрам, а не независимое тестирование по пациентам. На визуальном примере видно, что алгоритм часто теряет значительную часть клеточной маски. Источник данных: Makhro et al., Red Blood Cell RedTell Dataset, Zenodo, https://doi.org/10.5281/zenodo.7801430.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30 выбранных кадров текущая сегментация показала средний Dice 0,115 и средний IoU 0,062 по пикселям. При 1 261 клетке в эталоне алгоритм выделил 667; среднее signed смещение подсчёта составляет минус 19,8 клетки на кадр, а средняя абсолютная ошибка подсчёта 22,1. Это неудовлетворительный результат. Он относится к этому набору фазово-контрастных изображений, не к любой камере или окрашенному мазку. Метрики маски не являются диагностической точностью. Независимые разметки двух специалистов ещё не собраны.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Применение прототипа сегодня — обучение и пилотная исследовательская работа с изображениями. Студент может увидеть, как качество кадра и наложение клеток мешают разметке. Исследователь может сохранить измерения, экспортировать их и проверить маску относительно ручной. Потенциальное воздействие появится, если качество метода улучшится и его независимо проверят. Сейчас это не медицинское изделие и не инструмент для клинического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не заявляю, что подобный анализ ранее не существовал. Научные инструменты вроде RedTell уже объединяют сегментацию, морфологические признаки, аннотацию и классификацию. Практический акцент CellVision — доступный учебный веб-интерфейс, где видно, что именно выделил алгоритм и как это можно сравнить с ручной маской. Ключевая ценность — прозрачность проверки, а не самостоятельное медицинское заключение. Источник сравнения: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этап должен начинаться с качества сегментации. Затем два наблюдателя независимо размечают общие изображения, чтобы оценить воспроизводимость вручную. Данные делятся по пациентам и исходным мазкам, чтобы похожие кадры не попадали одновременно в обучение и тест. Можно изучить AneRBC: это открытый набор с 1 000 исходных изображений и связанными CBC, морфологическими отчётами и экспертными масками. Но это набор одного центра и прибора, поэтому внешний тест на других данных всё равно необходим. Источники: AneRBC paper https://doi.org/10.1093/database/baae120; dataset https://data.mendeley.com/datasets/hms3sjzt7f/1.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заключение, CellVision — работающий исследовательский прототип для визуализации качества микрофотографий и изучения морфологии клеток. Проведённый тест не подтвердил надёжность текущей сегментации: метод существенно недосчитывает клетки. Поэтому следующий шаг — улучшить алгоритм и проверить его на независимой серии снимков с экспертной разметкой. До такой проверки система остаётся учебным инструментом, а не диагностической системой.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ed968b14543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cc192b321467b" /><Relationship Type="http://schemas.openxmlformats.org/officeDocument/2006/relationships/slideLayout" Target="/ppt/slideLayouts/slideLayout1.xml" Id="R0c1a94dcedd7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a94dcedd7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a3e07419c43c4" /><Relationship Type="http://schemas.openxmlformats.org/officeDocument/2006/relationships/notesSlide" Target="/ppt/notesSlides/notesSlide1.xml" Id="R784bdbbd02a4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07a0af2f64f89" /><Relationship Type="http://schemas.openxmlformats.org/officeDocument/2006/relationships/notesSlide" Target="/ppt/notesSlides/notesSlide2.xml" Id="Rfde2ed8e48174e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7283cd37451a" /><Relationship Type="http://schemas.openxmlformats.org/officeDocument/2006/relationships/notesSlide" Target="/ppt/notesSlides/notesSlide3.xml" Id="Rd0bb60501ff84c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098e675a4c41" /><Relationship Type="http://schemas.openxmlformats.org/officeDocument/2006/relationships/notesSlide" Target="/ppt/notesSlides/notesSlide4.xml" Id="Rb244ed0c0bf648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ee25a39c14b5d" /><Relationship Type="http://schemas.openxmlformats.org/officeDocument/2006/relationships/image" Target="/ppt/media/image.jpeg" Id="Rb3e33861fda341e5" /><Relationship Type="http://schemas.openxmlformats.org/officeDocument/2006/relationships/notesSlide" Target="/ppt/notesSlides/notesSlide5.xml" Id="Rb9660348c8d542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17c57d104867" /><Relationship Type="http://schemas.openxmlformats.org/officeDocument/2006/relationships/notesSlide" Target="/ppt/notesSlides/notesSlide6.xml" Id="R87f029776815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74ddbe3b4034" /><Relationship Type="http://schemas.openxmlformats.org/officeDocument/2006/relationships/notesSlide" Target="/ppt/notesSlides/notesSlide7.xml" Id="R4dde6984283e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26b5bcab7487d" /><Relationship Type="http://schemas.openxmlformats.org/officeDocument/2006/relationships/notesSlide" Target="/ppt/notesSlides/notesSlide8.xml" Id="R1b78a7daa4da4e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6e0d88a36429c" /><Relationship Type="http://schemas.openxmlformats.org/officeDocument/2006/relationships/notesSlide" Target="/ppt/notesSlides/notesSlide9.xml" Id="Rb3fcb1303316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59369ca52424a" /><Relationship Type="http://schemas.openxmlformats.org/officeDocument/2006/relationships/notesSlide" Target="/ppt/notesSlides/notesSlide10.xml" Id="R6bdfecf9dafe41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40A52-B394-4324-B02B-C9A33A7B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НАУЧНАЯ РАЗРАБОТКА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716B-1A84-4D27-A4DC-43A23CC1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CellVision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196B9-37CE-41E5-AB8F-D2783D3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32CCB-EF37-4810-B90C-2E4D026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DD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0BF6F-40F0-40DD-8519-AF61A93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800AD-141E-431C-BEB3-F1FE9B9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828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Исследовательская визуализация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микрофотографий мазка крови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B315E-BD78-4DD2-BA16-09F4D79D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8D9D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8D9D4"/>
                </a:solidFill>
                <a:latin typeface="Aptos"/>
                <a:ea typeface="Aptos"/>
                <a:cs typeface="Aptos"/>
              </a:rPr>
              <a:t>Контроль качества кадра и воспроизводимое изучение морфологии эритроцитов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0C0F7-CBC5-4E03-AA33-85AC61B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CE572-6CD2-45A4-BFB7-BE0C9051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Акунова Салтанат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C2108-AFB6-4258-9C93-B22B0F85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Индивидуальный проект  ·  STEMKyz Cup 2026</a:t>
            </a:r>
          </a:p>
        </p:txBody>
      </p:sp>
    </p:spTree>
    <p:extLst>
      <p:ext uri="{BB962C8B-B14F-4D97-AF65-F5344CB8AC3E}">
        <p14:creationId xmlns:p14="http://schemas.microsoft.com/office/powerpoint/2010/main" val="25058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E4AF5-5AE4-4750-94DA-C206CE3D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02  /  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C5E3F-7143-44C7-A253-2481980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Снимок влияет на оценку клеток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1F89B-C904-4CB9-87A0-414C31E4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CD3A7-C67F-4615-8136-A89F21BB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AB3F5-2DD2-4D44-82D9-5658AB1A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D57BF-AE4C-4826-B0F4-C917CACF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Фокус, освещение, окраска, загрязнения и наложение клеток меняют то, что видит наблюдатель и алгоритм.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6E7D1-A4D5-417E-BF9B-F0BC1B02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Ручная работа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25564-1839-40CA-8E64-E72C38A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Разметка контуров и подсчёт занимают время.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3A246-168D-42FD-A471-2E527AA6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Разные наблюдатели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F3FCC-4ED5-4F58-804E-910D57A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242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Границы клетки можно отметить по-разному.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FEA21-F2B8-42BE-A11D-98CE0530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Задача проекта: сделать шаги просмотра снимка наглядными и дать возможность проверить результат разметки.</a:t>
            </a:r>
          </a:p>
        </p:txBody>
      </p:sp>
    </p:spTree>
    <p:extLst>
      <p:ext uri="{BB962C8B-B14F-4D97-AF65-F5344CB8AC3E}">
        <p14:creationId xmlns:p14="http://schemas.microsoft.com/office/powerpoint/2010/main" val="788487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EEF60-B864-4CFD-AE7E-4323104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03  /  ИДЕЯ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5FF8-A578-4A90-9369-E1C46A3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Один снимок — понятный путь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F1F23-F9BA-4B5E-98BE-CCC680C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1C530-7998-4388-B94D-8A1D5DDD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7B12E-1CA6-4B50-966E-9FA8E893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D33DF-EB4B-4121-9F9E-E8A84805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D3106-4AB5-49D6-8EA9-000A96C5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Качество кадра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3F531-C3B6-4826-A15B-E60D5A6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резкость, свет,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пересвет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A5F95-81BA-4738-9B78-4F51323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C20D7-5BB1-4D25-AD94-DA7D5A70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7D569-DC4E-45F2-BB7E-F117B905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Обработка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AD739-E5C4-48D7-9EC5-131F341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маска и контуры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клеток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10DB3-DF60-4C71-AFB2-25B0E43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2B5D6-2CBB-461F-A387-4AF8CB63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E4D30-95BC-4D22-A254-D05789C8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Измерения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A6896-682D-4889-BDD2-7ACA334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форма и размер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объектов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47FC0-BE7B-4804-9730-90AB0460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B1CC3-18FE-4839-BEC1-26267BF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BAA5E-0B14-4405-988F-47DFFB03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BB7DC-C117-43E0-BBC0-96F9AE9F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сравнение с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ручной маской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EA80-E320-4EF2-A05D-0C5F59C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E842A-D322-4A79-BA87-9EB7107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910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Помочь учащимся и исследователям воспроизводимо изучать морфологию и замечать ограничения снимка.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3AF3E-7A06-4182-9E67-08E912AF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Задачи: автоматизировать первичную обработку, показать измерения, сохранить результаты и сопоставить их с ручной разметкой.</a:t>
            </a:r>
          </a:p>
        </p:txBody>
      </p:sp>
    </p:spTree>
    <p:extLst>
      <p:ext uri="{BB962C8B-B14F-4D97-AF65-F5344CB8AC3E}">
        <p14:creationId xmlns:p14="http://schemas.microsoft.com/office/powerpoint/2010/main" val="189965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50236-166A-420C-847C-613658EE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04  /  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9B074-47E4-4044-B06B-0C1F6F7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Как устроен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E2AA2-1FF7-468A-9528-483A7CD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E6EAF-B90C-4D98-AF84-AD876B1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9E441-4BDE-4CF0-B322-348E971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BFBB6-FA23-49D8-9942-6C77C4EA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Браузер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ED64C-05E3-4EF5-AA9A-49D05EDB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HTML · CSS · 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25574-CA0F-401D-B054-B0409CA8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04541-A02C-4C6F-BE6B-8F53BCE2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52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Локальный 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5D4E0-FC7B-49DF-A9D0-F99A788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717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Python · OpenCV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0FB5C-7BE5-4AA2-896C-A5D63282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14C96-5A8E-4D06-8B54-2DFDE29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09659-9C2E-4384-A316-AA12F7D4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717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маска · таблица · экспорт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3E308-1A2C-4162-911D-F7AE330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Сегментация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84933-59D8-4942-801A-66A208D6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Сглаживание, порог Отсу, морфологическая обработка и Watershed разделяют предполагаемые клетки.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C8E75-146F-4352-84E3-33DD3CC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Измерения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FDD0D-2927-4FC0-90A9-045A88D9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67150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Площадь, эквивалентный диаметр, круглость, эксцентриситет и вариация размеров по кадру.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F62A4-25AB-49E6-95FE-FD77375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Также: проверка качества кадра, очистка с визуальным сравнением, CSV/PDF, история, атлас и учебная лаборатория.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B149C-D5BC-4E9C-B8F2-7AECC1A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ОАК: OCR распознаёт поля, Hb сравнивается с порогом. Фото мазка не даёт вероятность анемии.</a:t>
            </a:r>
          </a:p>
        </p:txBody>
      </p:sp>
    </p:spTree>
    <p:extLst>
      <p:ext uri="{BB962C8B-B14F-4D97-AF65-F5344CB8AC3E}">
        <p14:creationId xmlns:p14="http://schemas.microsoft.com/office/powerpoint/2010/main" val="535292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A1DCA-E058-4DE9-AAFD-B4C3537B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05  / 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99C1F-B68B-4F57-8AA5-6D0FFB8F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Как проверяли сегментацию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0E552-6577-4E87-B633-C16BE35C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446EC-78ED-485B-86A8-4D4AD3C8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09EB5-0ED5-44A6-821F-EDA1A931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705D2-12F8-403D-AEEE-1B3C6422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Открытые кадры RedTell DSE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C72D-4402-4442-A40C-23352B5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30 отложенных кадров</a:t>
            </a:r>
          </a:p>
          <a:p xmlns:a="http://schemas.openxmlformats.org/drawingml/2006/main">
            <a:pPr>
              <a:defRPr sz="16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1 261 эталонная клетка</a:t>
            </a:r>
          </a:p>
          <a:p xmlns:a="http://schemas.openxmlformats.org/drawingml/2006/main">
            <a:pPr>
              <a:defRPr sz="16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Разделение по исходному кадру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33861fda341e5"/>
          <a:stretch xmlns:a="http://schemas.openxmlformats.org/drawingml/2006/main"/>
        </p:blipFill>
        <p:spPr>
          <a:xfrm xmlns:a="http://schemas.openxmlformats.org/drawingml/2006/main">
            <a:off x="2240280" y="3371850"/>
            <a:ext cx="7711440" cy="2628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79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0D024-2A4E-4BA4-8772-5000DEDF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06  / 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A45C7-1A74-443D-BA1C-35D56EB6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Текущая сегментация пока ненадёжна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9A859-E48A-44B3-A218-56419EC3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23CC1-9FC8-46EB-AD63-CD414DEE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AD7B9-44B4-41BE-9014-7E65A689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E87F6-FC54-4F47-83D7-CAF9E61C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0,115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B275E-1023-4948-9367-4E1840D4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средний Dice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42F7E-9EA0-495F-A5FB-8CECA6B8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14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0,062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04EA8-2176-45A2-AC54-019B57A4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24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средний IoU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3B8CB-3134-40BC-9108-5982AE3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−19,8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03EBD-F406-4B50-909C-5EB0DDCF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24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клетки на кадр</a:t>
            </a:r>
          </a:p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среднее смещение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B4E3B-0BC1-4D57-B2D6-8BEE1DF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4C023-7872-4742-9C21-C57A4BF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Эталон содержит 1 261 клетку; алгоритм выделил 667.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DDEAD-8273-4C49-B219-F6C4B53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Это результат теста на фазово-контрастных кадрах RedTell. Он показывает ошибку текущего метода на этих данных, а не точность для всех мазков.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2DE2D-5971-41B5-97AF-4D3D45D9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Классификатор 3 форм: accuracy 71,9%; macro-F1 58,1%. Он не определяет анемию.</a:t>
            </a:r>
          </a:p>
        </p:txBody>
      </p:sp>
    </p:spTree>
    <p:extLst>
      <p:ext uri="{BB962C8B-B14F-4D97-AF65-F5344CB8AC3E}">
        <p14:creationId xmlns:p14="http://schemas.microsoft.com/office/powerpoint/2010/main" val="1673248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78F82-F709-4F1A-B962-1FE1A02E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07  /  ПРИМЕНЕНИЕ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A554D-2369-4DED-A6D6-26014941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Для учебной и исследовательской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51168-6303-4852-BCE2-3C16F463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8401-DC6C-48E0-8CB8-1FD012E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08F6E-8D74-4F80-979C-2C4DB1E2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0F397-028D-4091-B98B-8171C8FD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Учащийся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60267-335A-4F3C-A4C8-D9471613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Изучает морфологию, очистку изображения и оптические эффекты в учебной лаборатории.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BE016-3D66-4BA1-953D-6E32A190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Исследователь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EB81D-0694-4F10-80E8-2617C1F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Фиксирует измерения, выгружает CSV и сравнивает разметки. CBC-экран отдельно показывает лабораторные показатели.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BD649-E40E-4CE6-9CE8-43110F0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01B2C-C251-4037-A241-9FFF6690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Потенциальное воздействие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089E4-ED01-460E-99BE-7FDBA7B8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Более прозрачная работа с микрофотографией и удобный сбор данных для последующей проверки алгоритмов.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87315-33A4-4294-87E2-7D31820B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Пока продукт не предназначен для клинического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709268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40FC4-8436-4DE6-8CF1-B6C0CAD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08  /  ОТЛИЧИЕ ПОДХОДА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35367-AC95-489D-9D63-9E865CF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Акцент на прозрачной проверке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D448E-C78E-4F3F-A258-6E695B2B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7D131-3D00-422E-93C6-A7B4B00E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4E3D3-A249-499C-848B-F56CE44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6096A-E40C-41EA-A101-403883A9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04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В одном интерфейсе собраны просмотр кадра, базовая оценка его качества, сегментация, измерения по клеткам и сравнение с ручной маской.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ECD01-AAE0-49BB-9BCE-DF9AEDC8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Что можно перепроверить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03CF2-A35B-4AE1-8858-57A5C5E0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Каждый контур виден поверх оригинала. Табличные показатели можно сохранить и анализировать отдельно.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01111-0803-4030-B1D6-80BAFBD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Что важно уточнить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7BFFE-7486-4E9B-8DB2-E560D8C4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Инструменты компьютерного зрения для эритроцитов уже существуют. Отличие CellVision — учебный формат и доступность проверки в небольшом локальном прототипе.</a:t>
            </a:r>
          </a:p>
        </p:txBody>
      </p:sp>
    </p:spTree>
    <p:extLst>
      <p:ext uri="{BB962C8B-B14F-4D97-AF65-F5344CB8AC3E}">
        <p14:creationId xmlns:p14="http://schemas.microsoft.com/office/powerpoint/2010/main" val="296472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DC6F7-764C-4BF3-9A16-78265C5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09  / 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4904F-621C-4878-8724-E6E1231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План: улучшать по измеримым этапам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5F283-DCAC-4D95-AC07-D6ACC9A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4807B-77A2-4EF4-AC45-CD943A3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D7AD7-960C-4911-B1DF-355BB0FA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10D7D-AE46-4BA4-BFAE-61C61AC4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F3CD0-CC42-4ADF-BCF7-8824B366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Исправить сегментацию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5A037-C5AF-475F-8850-B91A8B9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Подобрать метод под тип съёмки; отдельно фиксировать окрашенные и фазово-контрастные кадры.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13285-5D92-43CF-BA03-194A78C9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83D4A-4658-432E-980E-D92FA964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96092-71CD-43F1-BBFC-B66F6B18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Собрать независимую разметку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1B248-09FC-4432-B518-F202E440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Два наблюдателя размечают одни и те же кадры; считать согласие после согласованного протокола.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E1904-2E1E-4013-B44F-7B60C388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D6CD3-967B-4733-9874-C29B8189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B9141-5062-470F-8F69-44CACB7F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Проверить обобщение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F3394-A221-4959-888A-9E426859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243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Разделять данные по пациентам и мазкам; тестировать на отдельном источнике и микроскопе.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6EC16-CAA7-4730-B815-BCC10D4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767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AA50E-7CE1-4400-B9FF-99CE3FC3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9DFF6-8920-47EE-A5C4-CAB1C83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1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Только затем расширять выводы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F831D-6F30-4FD5-87F4-2F436174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911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Сначала оценить сегментацию и морфологию; не переводить их в вероятность анемии без связанных CBC и клинической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559119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10B02-3470-4C37-A7D4-1C435C7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10  /  ЗАКЛЮЧЕНИЕ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B8BF1-B14C-4541-8DC4-9A577F31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Сначала надёжная визуализация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9DA6E-CF85-4894-96C1-A0AF440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FC15F-2662-4F3A-90D8-91EF42A9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DDD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46484-E2FF-45A5-8CC0-B666C78F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93B33-1121-4B9A-922E-761E7548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995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CellVision уже показывает путь от микрофотографии к измерениям и проверяемой маске.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AEAE2-BA38-4F2A-BA42-9B7F5876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89751-9BC2-403A-810E-14969786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4E2D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4E2DE"/>
                </a:solidFill>
                <a:latin typeface="Aptos"/>
                <a:ea typeface="Aptos"/>
                <a:cs typeface="Aptos"/>
              </a:rPr>
              <a:t>Тест выявил недосчёт клеток. Это ограничение определяет следующий этап работы.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48923-8680-455D-82CE-077EA332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Цель развития — сделать измерения воспроизводимыми и проверить их независимой ручной разметкой.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DB582-7E23-4D65-A79B-11EEFA07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546018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2026-09-27T01:08:53.5120000Z</dcterms:created>
  <dcterms:modified xsi:type="dcterms:W3CDTF">2026-09-27T01:08:53.5120000Z</dcterms:modified>
</coreProperties>
</file>