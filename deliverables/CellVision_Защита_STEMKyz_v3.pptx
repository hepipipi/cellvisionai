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f7c07420924f0f" /><Relationship Type="http://schemas.openxmlformats.org/officeDocument/2006/relationships/extended-properties" Target="/docProps/app.xml" Id="R50f0a01188264dbd" /><Relationship Type="http://schemas.openxmlformats.org/officeDocument/2006/relationships/officeDocument" Target="/ppt/presentation.xml" Id="Rbf7ab8686ed246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fa8bc3ac2947ac"/>
  </p:sldMasterIdLst>
  <p:notesMasterIdLst>
    <p:notesMasterId xmlns:r="http://schemas.openxmlformats.org/officeDocument/2006/relationships" r:id="Rc38372a81b9e4d3e"/>
  </p:notesMasterIdLst>
  <p:sldIdLst>
    <p:sldId xmlns:r="http://schemas.openxmlformats.org/officeDocument/2006/relationships" id="256" r:id="Rfc3d331a51604db9"/>
    <p:sldId xmlns:r="http://schemas.openxmlformats.org/officeDocument/2006/relationships" id="257" r:id="R6afd9326739b46a2"/>
    <p:sldId xmlns:r="http://schemas.openxmlformats.org/officeDocument/2006/relationships" id="258" r:id="R274230abd0d94dd7"/>
    <p:sldId xmlns:r="http://schemas.openxmlformats.org/officeDocument/2006/relationships" id="259" r:id="R0b9f06d9778f4a64"/>
    <p:sldId xmlns:r="http://schemas.openxmlformats.org/officeDocument/2006/relationships" id="260" r:id="R1157373e10904b92"/>
    <p:sldId xmlns:r="http://schemas.openxmlformats.org/officeDocument/2006/relationships" id="261" r:id="R30d14c7d4a394ec2"/>
    <p:sldId xmlns:r="http://schemas.openxmlformats.org/officeDocument/2006/relationships" id="262" r:id="R0c031ae5b85d426d"/>
    <p:sldId xmlns:r="http://schemas.openxmlformats.org/officeDocument/2006/relationships" id="263" r:id="Rfc5a1503281645b0"/>
    <p:sldId xmlns:r="http://schemas.openxmlformats.org/officeDocument/2006/relationships" id="264" r:id="Rd3e8e19812d040ae"/>
    <p:sldId xmlns:r="http://schemas.openxmlformats.org/officeDocument/2006/relationships" id="265" r:id="Rf2a7fc69a45a42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260e0821ac4f1d" /><Relationship Type="http://schemas.openxmlformats.org/officeDocument/2006/relationships/slideMaster" Target="/ppt/slideMasters/slideMaster1.xml" Id="Rebfa8bc3ac2947ac" /><Relationship Type="http://schemas.openxmlformats.org/officeDocument/2006/relationships/notesMaster" Target="/ppt/notesMasters/notesMaster1.xml" Id="Rc38372a81b9e4d3e" /><Relationship Type="http://schemas.openxmlformats.org/officeDocument/2006/relationships/presProps" Target="/ppt/presProps.xml" Id="R9b88a2607f4943bd" /><Relationship Type="http://schemas.openxmlformats.org/officeDocument/2006/relationships/tableStyles" Target="/ppt/tableStyles.xml" Id="Rb5917ed8f6ad432b" /><Relationship Type="http://schemas.openxmlformats.org/officeDocument/2006/relationships/slide" Target="/ppt/slides/slide1.xml" Id="Rfc3d331a51604db9" /><Relationship Type="http://schemas.openxmlformats.org/officeDocument/2006/relationships/slide" Target="/ppt/slides/slide2.xml" Id="R6afd9326739b46a2" /><Relationship Type="http://schemas.openxmlformats.org/officeDocument/2006/relationships/slide" Target="/ppt/slides/slide3.xml" Id="R274230abd0d94dd7" /><Relationship Type="http://schemas.openxmlformats.org/officeDocument/2006/relationships/slide" Target="/ppt/slides/slide4.xml" Id="R0b9f06d9778f4a64" /><Relationship Type="http://schemas.openxmlformats.org/officeDocument/2006/relationships/slide" Target="/ppt/slides/slide5.xml" Id="R1157373e10904b92" /><Relationship Type="http://schemas.openxmlformats.org/officeDocument/2006/relationships/slide" Target="/ppt/slides/slide6.xml" Id="R30d14c7d4a394ec2" /><Relationship Type="http://schemas.openxmlformats.org/officeDocument/2006/relationships/slide" Target="/ppt/slides/slide7.xml" Id="R0c031ae5b85d426d" /><Relationship Type="http://schemas.openxmlformats.org/officeDocument/2006/relationships/slide" Target="/ppt/slides/slide8.xml" Id="Rfc5a1503281645b0" /><Relationship Type="http://schemas.openxmlformats.org/officeDocument/2006/relationships/slide" Target="/ppt/slides/slide9.xml" Id="Rd3e8e19812d040ae" /><Relationship Type="http://schemas.openxmlformats.org/officeDocument/2006/relationships/slide" Target="/ppt/slides/slide10.xml" Id="Rf2a7fc69a45a42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7e1d218387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71b1d9b1074b60" /><Relationship Type="http://schemas.openxmlformats.org/officeDocument/2006/relationships/notesMaster" Target="/ppt/notesMasters/notesMaster1.xml" Id="R6764c7d779a14d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0013001f994121" /><Relationship Type="http://schemas.openxmlformats.org/officeDocument/2006/relationships/notesMaster" Target="/ppt/notesMasters/notesMaster1.xml" Id="R0011abe12fab40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45b8f5f7934951" /><Relationship Type="http://schemas.openxmlformats.org/officeDocument/2006/relationships/notesMaster" Target="/ppt/notesMasters/notesMaster1.xml" Id="Ra5438e4cd0224b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e3e0fb9a964dc5" /><Relationship Type="http://schemas.openxmlformats.org/officeDocument/2006/relationships/notesMaster" Target="/ppt/notesMasters/notesMaster1.xml" Id="Raa339c97e1af4f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c8c3d5dfa64cf7" /><Relationship Type="http://schemas.openxmlformats.org/officeDocument/2006/relationships/notesMaster" Target="/ppt/notesMasters/notesMaster1.xml" Id="Rfb035c292bc448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12ffb0dad24381" /><Relationship Type="http://schemas.openxmlformats.org/officeDocument/2006/relationships/notesMaster" Target="/ppt/notesMasters/notesMaster1.xml" Id="Rb92feeea8a4b4a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ddef72f014135" /><Relationship Type="http://schemas.openxmlformats.org/officeDocument/2006/relationships/notesMaster" Target="/ppt/notesMasters/notesMaster1.xml" Id="R0cd1420335ba45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1af803edb044aa" /><Relationship Type="http://schemas.openxmlformats.org/officeDocument/2006/relationships/notesMaster" Target="/ppt/notesMasters/notesMaster1.xml" Id="Rce6632de96394b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8a87b4c8eb4fef" /><Relationship Type="http://schemas.openxmlformats.org/officeDocument/2006/relationships/notesMaster" Target="/ppt/notesMasters/notesMaster1.xml" Id="Rcad0adb595bc4a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780ce245af4e9f" /><Relationship Type="http://schemas.openxmlformats.org/officeDocument/2006/relationships/notesMaster" Target="/ppt/notesMasters/notesMaster1.xml" Id="R0c0261be8fba43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Акунова Салтанат, автор индивидуального проекта CellVision. Это исследовательский программный прототип для визуализации микрофотографий мазка крови. Я сосредоточилась на качестве снимка и изучении морфологии клеток. Проект не ставит диагноз.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проекта не в том, что микроскопия бесполезна. Проблема в том, что анализ изображения чувствителен к качеству съёмки и ручная разметка может различаться. В статье RedTell отмечено, что морфологическая оценка вручную бывает субъективной и требует времени. CellVision исследует именно цифровую помощь при просмотре, а не замену гематолога. Источник: Sadafi et al., RedTell, Frontiers in Physiology (2023), https://doi.org/10.3389/fphys.2023.1058720.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CellVision — сделать исследовательскую работу с микрофотографиями более воспроизводимой и понятной. Веб-интерфейс принимает изображение, оценивает базовые признаки его качества, выполняет сегментацию, считает измерения объектов и позволяет визуально сопоставить маску с ручной разметкой. Такая схема согласуется с общим исследовательским подходом RedTell: сегментация, извлечение признаков, поддержка разметки и классификация. Источник: https://doi.org/10.3389/fphys.2023.1058720.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работает локально как веб-прототип: интерфейс построен на HTML, CSS и JavaScript, сервер на Python, обработка изображений выполняется OpenCV. Алгоритм сначала сглаживает изображение, затем использует порог Отсу, морфологические операции и Watershed. Для объектов рассчитываются площадь, эквивалентный диаметр, круглость, эксцентриситет и цветовая характеристика. При заданной пользователем шкале пиксели можно перевести в микрометры. Это измерения изображения; вариация размеров не является лабораторным RDW. Есть экспорт таблицы в CSV и печать отчёта в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показан сгенерированный учебный пример из проекта, а не реальный мазок и не клинические данные. Учебная лаборатория позволяет наглядно рассматривать обработку изображения, в том числе очистку шума, и обсуждать возможную потерю мелких деталей при фильтрации. Не выдавать этот пример за результат работы на образце пациента. Для биомедицинского анализа нужна отдельная проверка на реальных изображениях.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Подтверждённый результат проекта — собранный локальный веб-прототип с перечисленными инструментами: контроль качества изображения, очистка и сравнение снимков, измерения объектов, ручная маска, CSV/PDF, история, атлас, учебная лаборатория и отдельный OCR/CBC экран. Наличие функций не доказывает измерительную или клиническую точность. По проведённой внутренней проверке сегментации нужно говорить, что надёжность пока не подтверждена и следующий этап — независимая проверка. Не заявлять вымышленные проценты как реальные.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Применение прототипа сегодня — обучение и пилотная исследовательская работа с изображениями. Студент может увидеть, как качество кадра и наложение клеток мешают разметке. Исследователь может сохранить измерения, экспортировать их и проверить маску относительно ручной. Потенциальное воздействие появится, если качество метода улучшится и его независимо проверят. Сейчас это не медицинское изделие и не инструмент для клинического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не заявляю, что подобный анализ ранее не существовал. Научные инструменты вроде RedTell уже объединяют сегментацию, морфологические признаки, аннотацию и классификацию. Практический акцент CellVision — доступный учебный веб-интерфейс, где видно, что именно выделил алгоритм и как это можно сравнить с ручной маской. Ключевая ценность — прозрачность проверки, а не самостоятельное медицинское заключение. Источник сравнения: https://doi.org/10.3389/fphys.2023.1058720.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этап должен начинаться с качества сегментации. Затем два наблюдателя независимо размечают общие изображения, чтобы оценить воспроизводимость вручную. Данные делятся по пациентам и исходным мазкам, чтобы похожие кадры не попадали одновременно в обучение и тест. Можно изучить AneRBC: это открытый набор с 1 000 исходных изображений и связанными CBC, морфологическими отчётами и экспертными масками. Но это набор одного центра и прибора, поэтому внешний тест на других данных всё равно необходим. Источники: AneRBC paper https://doi.org/10.1093/database/baae120; dataset https://data.mendeley.com/datasets/hms3sjzt7f/1.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заключение, CellVision — работающий исследовательский прототип для визуализации качества микрофотографий и изучения морфологии клеток. Проведённый тест не подтвердил надёжность текущей сегментации: метод существенно недосчитывает клетки. Поэтому следующий шаг — улучшить алгоритм и проверить его на независимой серии снимков с экспертной разметкой. До такой проверки система остаётся учебным инструментом, а не диагностической системой.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3378ab71246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85545c0c8c4bdf" /><Relationship Type="http://schemas.openxmlformats.org/officeDocument/2006/relationships/slideLayout" Target="/ppt/slideLayouts/slideLayout1.xml" Id="Rdb7317c1e83846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7317c1e83846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8004abb134fc4" /><Relationship Type="http://schemas.openxmlformats.org/officeDocument/2006/relationships/notesSlide" Target="/ppt/notesSlides/notesSlide1.xml" Id="R05630e00e40a4b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ae5cf26904e93" /><Relationship Type="http://schemas.openxmlformats.org/officeDocument/2006/relationships/notesSlide" Target="/ppt/notesSlides/notesSlide2.xml" Id="R8bc61ad025124f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3c49e53b34206" /><Relationship Type="http://schemas.openxmlformats.org/officeDocument/2006/relationships/notesSlide" Target="/ppt/notesSlides/notesSlide3.xml" Id="R84971cab11c34e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1ded755b8407d" /><Relationship Type="http://schemas.openxmlformats.org/officeDocument/2006/relationships/notesSlide" Target="/ppt/notesSlides/notesSlide4.xml" Id="R03fce847a3ea4e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16e46cc1845df" /><Relationship Type="http://schemas.openxmlformats.org/officeDocument/2006/relationships/image" Target="/ppt/media/image.png" Id="R379d1d2a81a34e39" /><Relationship Type="http://schemas.openxmlformats.org/officeDocument/2006/relationships/notesSlide" Target="/ppt/notesSlides/notesSlide5.xml" Id="R53cb58ffd4ff42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804076eff46db" /><Relationship Type="http://schemas.openxmlformats.org/officeDocument/2006/relationships/notesSlide" Target="/ppt/notesSlides/notesSlide6.xml" Id="R6636b66ef0ca47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cde3e1aee4cf4" /><Relationship Type="http://schemas.openxmlformats.org/officeDocument/2006/relationships/notesSlide" Target="/ppt/notesSlides/notesSlide7.xml" Id="Rcfc6f567269941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71386f4654945" /><Relationship Type="http://schemas.openxmlformats.org/officeDocument/2006/relationships/notesSlide" Target="/ppt/notesSlides/notesSlide8.xml" Id="R7514baa887864e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5795de3e74940" /><Relationship Type="http://schemas.openxmlformats.org/officeDocument/2006/relationships/notesSlide" Target="/ppt/notesSlides/notesSlide9.xml" Id="Read34a39f12b43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6c4718fde47ee" /><Relationship Type="http://schemas.openxmlformats.org/officeDocument/2006/relationships/notesSlide" Target="/ppt/notesSlides/notesSlide10.xml" Id="R9120520262b24f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A7B86-2847-4816-B7ED-44F3FF49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DDD2"/>
                </a:solidFill>
                <a:latin typeface="Aptos"/>
                <a:ea typeface="Aptos"/>
                <a:cs typeface="Aptos"/>
              </a:rPr>
              <a:t>НАУЧНАЯ РАЗРАБОТКА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817FC-C40C-4D46-923D-616CBBA7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CellVision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93E6A-6DA4-4F04-9398-9B17D12F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8A8A8-EC83-444B-9126-709053D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DD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E7D2C-B0E2-4165-930D-F79F69A4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C3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C3B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0E3BE-554E-40F8-86A5-436ACB2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828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Исследовательская визуализация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микрофотографий мазка крови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37464-E662-47B6-B844-CF0E6362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8D9D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8D9D4"/>
                </a:solidFill>
                <a:latin typeface="Aptos"/>
                <a:ea typeface="Aptos"/>
                <a:cs typeface="Aptos"/>
              </a:rPr>
              <a:t>Контроль качества кадра и воспроизводимое изучение морфологии эритроцитов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3ADDE-FF73-423E-89B7-94502C75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FCE0B-5083-4BB3-9C8D-70AAEF21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Акунова Салтанат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468DA-E00E-44EB-B81D-D5D792BB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B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FC3BE"/>
                </a:solidFill>
                <a:latin typeface="Aptos"/>
                <a:ea typeface="Aptos"/>
                <a:cs typeface="Aptos"/>
              </a:rPr>
              <a:t>Индивидуальный проект  ·  STEMKyz Cup 2026</a:t>
            </a:r>
          </a:p>
        </p:txBody>
      </p:sp>
    </p:spTree>
    <p:extLst>
      <p:ext uri="{BB962C8B-B14F-4D97-AF65-F5344CB8AC3E}">
        <p14:creationId xmlns:p14="http://schemas.microsoft.com/office/powerpoint/2010/main" val="1094221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888F0-4ED5-40EA-A37A-A45BC90E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02  /  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A9D26-C28A-4368-9A0A-0C3F494A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Снимок влияет на оценку клеток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9D6D2-E0AD-4D1A-B300-6A7C7D02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D7E0C-14C5-479E-8D8B-2D1C6E0A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E89C1-57C5-43D8-B6F8-3C56C2E4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B55E2-FEF5-47EB-B285-A4FE843B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Фокус, освещение, окраска, загрязнения и наложение клеток меняют то, что видит наблюдатель и алгоритм.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32645-8C6E-4CD9-A2E3-EA240182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Ручная работа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3A767-C194-4C8E-8DA5-7EBC3F82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Разметка контуров и подсчёт занимают время.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82460-E355-43F0-85EB-CA7D0A3B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Разные наблюдатели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09FE6-9A4B-4AB6-B2F3-6BEE04FF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2422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Границы клетки можно отметить по-разному.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99129-3902-41C3-9372-B062B9F7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Задача проекта: сделать шаги просмотра снимка наглядными и дать возможность проверить результат разметки.</a:t>
            </a:r>
          </a:p>
        </p:txBody>
      </p:sp>
    </p:spTree>
    <p:extLst>
      <p:ext uri="{BB962C8B-B14F-4D97-AF65-F5344CB8AC3E}">
        <p14:creationId xmlns:p14="http://schemas.microsoft.com/office/powerpoint/2010/main" val="1402350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25474-D54D-4383-82FB-D1F801BB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03  /  ИДЕЯ 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26721-A39A-4A9D-BA6A-A5DFC05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Один снимок — понятный путь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25BBE-72CA-438F-8741-F6F5AC92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EC6BA-10F6-4660-AAF3-CC7B0FF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D48E7-1D41-4C1D-870C-50B3CAB3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30F7D-9076-44B8-921B-A699226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556AF-63CB-4A7B-B2A0-A01E0C1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Качество кадра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CAE49-E3A6-4A9B-A638-CCA6054C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резкость, свет,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пересвет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35CF1-A344-44A7-B807-D6A2FFE3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80D17-23A9-4962-B820-AEA89331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2B2DD-9410-419F-8BFD-B9C1D909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Обработка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45C36-7C7D-4CAE-AD87-3BF1AB5C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маска и контуры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клеток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76C28-6DE6-4CA5-9D1C-B1B42290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717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2B28E-3154-49AA-B790-49FF17ED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43A29-B5AE-466F-9BB0-CDFB61CD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Измерения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20314-FB1D-4069-A4F9-846F6012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форма и размер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объектов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86BF8-B8D0-46EC-986B-1703CD9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E762B-4F42-4C30-9D9A-016BD19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23441-FB61-44DE-83A3-FE1CF6C5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AFE2D-640A-43B8-9151-9EFFF69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сравнение с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ручной маской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AE61B-5C59-4A3A-B6B7-373E8D42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2E527-51EC-495F-82F0-540ADEF0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910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Помочь учащимся и исследователям воспроизводимо изучать морфологию и замечать ограничения снимка.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520E7-6B02-4D65-8368-ACD4EB1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Задачи: автоматизировать первичную обработку, показать измерения, сохранить результаты и сопоставить их с ручной разметкой.</a:t>
            </a:r>
          </a:p>
        </p:txBody>
      </p:sp>
    </p:spTree>
    <p:extLst>
      <p:ext uri="{BB962C8B-B14F-4D97-AF65-F5344CB8AC3E}">
        <p14:creationId xmlns:p14="http://schemas.microsoft.com/office/powerpoint/2010/main" val="145089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703D2-4505-4C35-A52A-B6BF4014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04  /  РЕАЛИЗАЦИЯ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6DF75-8AE0-4CBF-BE9D-887FD4F8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Как устроен прототип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2AE3C-4E04-4D09-9CBF-13CC886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34504-779A-4C8D-9BF5-8CB3714F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66C1E-E61D-4120-8D38-B6E84A09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2B0C8-768C-4B82-AB22-C01F64C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Браузер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CF666-5195-4086-9E7C-7D5B70F9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7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HTML · CSS · JavaScript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CA28C-3754-409A-B658-99D6AE8C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71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36DF-29F3-4DC8-95F5-3A880697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52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Локальный сервер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71C0D-205C-4FD8-9B85-CE9ED942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717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7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Python · OpenCV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EA88C-C7A2-4AB4-87C7-DB143832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71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2EA2E-1C78-4332-A0CD-92EBC28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21682-192C-424C-B058-BAD748CD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717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маска · таблица · экспорт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91D49-D0C6-4168-896B-4D69BE26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Сегментация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E149D-01D4-42B0-A0EB-88A8CBDF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Сглаживание, порог Отсу, морфологическая обработка и Watershed разделяют предполагаемые клетки.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93C0D-FD25-41B4-A242-14F0EFB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48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Измерения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B0DD7-4EBF-4DEE-A7C4-AD8F886F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67150"/>
            <a:ext cx="471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Площадь, эквивалентный диаметр, круглость, эксцентриситет и вариация размеров по кадру.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AECA8-EABD-472B-BF86-117AD279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Также: проверка качества кадра, очистка с визуальным сравнением, CSV/PDF, история, атлас и учебная лаборатория.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62DAD-1B35-45A8-9BCB-DB1E2AD9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ОАК: OCR распознаёт поля, Hb сравнивается с порогом. Фото мазка не даёт вероятность анемии.</a:t>
            </a:r>
          </a:p>
        </p:txBody>
      </p:sp>
    </p:spTree>
    <p:extLst>
      <p:ext uri="{BB962C8B-B14F-4D97-AF65-F5344CB8AC3E}">
        <p14:creationId xmlns:p14="http://schemas.microsoft.com/office/powerpoint/2010/main" val="1703967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C37C8-2525-4779-A20E-9E02BB30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05  /  УЧЕБНАЯ ЛАБОРАТОРИЯ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B7F2D-181A-4DCA-8696-88DECF62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Визуальный опыт с качеством снимка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1E8BE-D7B9-48D2-99EB-AB53DA11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89826-1AD6-4CE9-9782-A1ADD9E6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E4DE8-3FE5-4A38-AA0C-2D123E1C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D803A-9CF4-481F-92A2-F9B2DEFE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Синтетический пример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8161D-F08A-4F35-8825-D2BE7A09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В программе можно сравнить изображение до и после очистки и увидеть, как фильтр меняет мелкие детали.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64F2A-B5AA-426F-B12C-6ECDC38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4333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Это иллюстрация для эксперимента, а не микрофотография пациента.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85EF7-6A00-45B8-937F-E741D27B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433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Опыт помогает обсуждать шум и артефакты, но не подтверждает качество анализа клеток.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d1d2a81a34e39"/>
          <a:stretch xmlns:a="http://schemas.openxmlformats.org/drawingml/2006/main"/>
        </p:blipFill>
        <p:spPr>
          <a:xfrm xmlns:a="http://schemas.openxmlformats.org/drawingml/2006/main">
            <a:off x="5619750" y="2041922"/>
            <a:ext cx="5476875" cy="4107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65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EFBF6-F866-432A-9763-802DAEDC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06  /  РЕЗУЛЬТАТ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A8992-318E-4A57-AF64-703386C8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Рабочий прототип и инструменты исследования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B9366-667F-4A2F-8C4F-294A9FB9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D79C9-F0B5-49EA-B62B-3B82AA41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A5411-7EE2-453C-BEEA-F33E037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945B7-D607-4780-AE4B-A8898B43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Кадр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6B87D-A668-4626-A70C-CE12B89D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Подсказки о резкости и освещении; визуальное сравнение очистки и кадров «до/после».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D8B6F-1CC1-478F-B623-42B41DF8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716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Клетки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92831-9DFA-4FB6-AE54-774ED8E6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193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Сегментация и измерения объектов; ручная маска с расчётом Dice/IoU.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A024A-698D-40CC-B618-17B63534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B5F21-7401-499D-99A1-0A97749B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Сохранение и обучение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07FF5-23CF-44D4-874F-A13AE5D9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CSV по объектам, PDF‑отчёт, история пользователя, атлас и учебная лаборатория.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77472-9C91-45D2-9632-BD89D9E5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195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Отдельный CBC‑раздел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AF559-1C1A-47B7-9761-2E364869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862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OCR распознаёт бланк, а гемоглобин сравнивается с выбранным порогом. Фото мазка не даёт вероятность анемии.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00A18-1833-424D-A7D5-E737235B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Функции прототипа реализованы; точность сегментации требует дальнейшей независимой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2578552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2D020-BE99-4AD9-BF21-F06C382F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07  /  ПРИМЕНЕНИЕ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4C0FA-019A-4A8F-940B-9FCBDFBC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Для учебной и исследовательской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B3D0B-2BA7-4071-A059-1358D922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B6E47-0BEC-48E7-B0C1-B1CB714F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3637A-2365-4F70-8B23-BC42A33D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792F5-F377-4097-8697-C5F61904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Учащийся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C94DC-DB71-43E9-BA12-82BA3E9C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Изучает морфологию, очистку изображения и оптические эффекты в учебной лаборатории.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1C785-0F56-47E5-B42C-B21D4CE3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Исследователь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99340-630F-4622-92CD-76FBCE54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Фиксирует измерения, выгружает CSV и сравнивает разметки. CBC-экран отдельно показывает лабораторные показатели.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7052A-261D-4ED9-9B23-09D7A12B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1DE16-1D58-4BE0-AA3D-C9D0EE54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Потенциальное воздействие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13796-5063-4EEA-BD72-514562DD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962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Более прозрачная работа с микрофотографией и удобный сбор данных для последующей проверки алгоритмов.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051DA-8A62-45C8-BA99-B1FEF9C6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Пока продукт не предназначен для клинического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090791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7D3E3-8FB9-48B6-8221-2BEE2931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08  /  ОТЛИЧИЕ ПОДХОДА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DF5AB-B072-4291-AF9E-E2AB22A3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Акцент на прозрачной проверке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F8F8D-7E6F-492E-9871-3ABCD552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58594-9D16-46BB-BE05-6DDCE49E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AC19B-0ADE-4A52-A76A-CD04FBFF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00B93-CCF8-4EDC-B266-B8E7BFD8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048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В одном интерфейсе собраны просмотр кадра, базовая оценка его качества, сегментация, измерения по клеткам и сравнение с ручной маской.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1AC75-A380-403A-BD5B-D5D859DE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Что можно перепроверить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9E61B-3FB3-4F9B-9AC8-3A540FBD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Каждый контур виден поверх оригинала. Табличные показатели можно сохранить и анализировать отдельно.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69D6D-0636-4FB2-81B3-56AE22CA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Что важно уточнить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5C527-52C8-4B2C-B580-ED45A2E8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Инструменты компьютерного зрения для эритроцитов уже существуют. Отличие CellVision — учебный формат и доступность проверки в небольшом локальном прототипе.</a:t>
            </a:r>
          </a:p>
        </p:txBody>
      </p:sp>
    </p:spTree>
    <p:extLst>
      <p:ext uri="{BB962C8B-B14F-4D97-AF65-F5344CB8AC3E}">
        <p14:creationId xmlns:p14="http://schemas.microsoft.com/office/powerpoint/2010/main" val="4115085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E65E3-6158-4D02-BF26-B7F3BF53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09  / 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F14DD-2CCE-47FE-8082-4970C75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План: улучшать по измеримым этапам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75026-6D3B-49DA-B9D5-B0B73375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237CE-9ADB-49A2-9BDB-5DD4F0FA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FAF6B-35A4-447B-9D69-7837895A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8D267-A27E-4F50-8FB0-0AF420E8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BB24F-21CF-4735-A4BC-5FBE58C2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Исправить сегментацию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F8617-D9C8-46B6-AD57-EDDAE962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Подобрать метод под тип съёмки; отдельно фиксировать окрашенные и фазово-контрастные кадры.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9694F-3439-437A-ABBD-FCE37603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D13DE-49F9-4F1F-93E4-C27A6655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D3FE0-8F5B-448E-90D7-4D0BF33E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Собрать независимую разметку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2BE12-7570-41C2-9BEA-D0B390BC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Два наблюдателя размечают одни и те же кадры; считать согласие после согласованного протокола.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D1A3A-5531-4212-9C4F-8C604DAD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1B6D2-42BC-45A7-8317-DEE03A41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07DAF-C942-46DB-81E9-E126D81A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Проверить обобщение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63931-730D-4062-B0F3-A9590BF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243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Разделять данные по пациентам и мазкам; тестировать на отдельном источнике и микроскопе.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05B4C-7B31-42C6-B099-C8E7976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767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F0ADF-6EB7-4E54-85C4-C28F4EEE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62352-72FC-450E-BB94-47E06FC4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11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Только затем расширять выводы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7B34E-BF7C-4451-8DEB-E8DD1509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911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Сначала оценить сегментацию и морфологию; не переводить их в вероятность анемии без связанных CBC и клинической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9752347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26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DEF13-AE54-4648-B9E5-3CF71E22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DDD2"/>
                </a:solidFill>
                <a:latin typeface="Aptos"/>
                <a:ea typeface="Aptos"/>
                <a:cs typeface="Aptos"/>
              </a:rPr>
              <a:t>10  /  ЗАКЛЮЧЕНИЕ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54F50-9DD9-40C2-A1FE-0CEA502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Сначала надёжная визуализация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2C4C6-4C86-4CF4-9B8B-E1629FC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84106-CC91-40B3-929F-3D563D9D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DDD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CB604-6F2D-43D5-B42B-C6AE3F58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C3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C3B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88C6A-47C9-4967-9742-53CF32C3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995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CellVision уже показывает путь от микрофотографии к измерениям и проверяемой маске.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EF75A-56F7-4470-8CA2-483D2A10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60981-41C2-4D1E-9310-124071B5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4E2DE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4E2DE"/>
                </a:solidFill>
                <a:latin typeface="Aptos"/>
                <a:ea typeface="Aptos"/>
                <a:cs typeface="Aptos"/>
              </a:rPr>
              <a:t>Тест выявил недосчёт клеток. Это ограничение определяет следующий этап работы.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36930-258F-44D3-9A3D-DE2A7A10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7DDD2"/>
                </a:solidFill>
                <a:latin typeface="Aptos"/>
                <a:ea typeface="Aptos"/>
                <a:cs typeface="Aptos"/>
              </a:rPr>
              <a:t>Цель развития — сделать измерения воспроизводимыми и проверить их независимой ручной разметкой.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9424A-1A3C-4DBA-A30A-6129895D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812393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2026-09-27T01:19:53.7030000Z</dcterms:created>
  <dcterms:modified xsi:type="dcterms:W3CDTF">2026-09-27T01:19:53.7040000Z</dcterms:modified>
</coreProperties>
</file>